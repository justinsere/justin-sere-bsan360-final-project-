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2"/>
  </p:normalViewPr>
  <p:slideViewPr>
    <p:cSldViewPr snapToGrid="0" snapToObjects="1">
      <p:cViewPr varScale="1">
        <p:scale>
          <a:sx n="111" d="100"/>
          <a:sy n="111" d="100"/>
        </p:scale>
        <p:origin x="14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66228-0AAE-4944-8874-CE147E07A9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3729688-A42D-40A4-8AA5-1B8DC23AEA8D}">
      <dgm:prSet/>
      <dgm:spPr/>
      <dgm:t>
        <a:bodyPr/>
        <a:lstStyle/>
        <a:p>
          <a:r>
            <a:rPr lang="en-US"/>
            <a:t>Touchdowns have a strong positive effect on passer rating.</a:t>
          </a:r>
        </a:p>
      </dgm:t>
    </dgm:pt>
    <dgm:pt modelId="{D7EBBE74-D0B1-40AC-AFEA-EFAA7FB2546B}" type="parTrans" cxnId="{5F093741-16E0-4E46-B8C4-ABFD2C741071}">
      <dgm:prSet/>
      <dgm:spPr/>
      <dgm:t>
        <a:bodyPr/>
        <a:lstStyle/>
        <a:p>
          <a:endParaRPr lang="en-US"/>
        </a:p>
      </dgm:t>
    </dgm:pt>
    <dgm:pt modelId="{6616517B-5571-4286-994F-242CE8B8EA3F}" type="sibTrans" cxnId="{5F093741-16E0-4E46-B8C4-ABFD2C741071}">
      <dgm:prSet/>
      <dgm:spPr/>
      <dgm:t>
        <a:bodyPr/>
        <a:lstStyle/>
        <a:p>
          <a:endParaRPr lang="en-US"/>
        </a:p>
      </dgm:t>
    </dgm:pt>
    <dgm:pt modelId="{3E045CE1-386D-4F00-8107-F6DC5659CE19}">
      <dgm:prSet/>
      <dgm:spPr/>
      <dgm:t>
        <a:bodyPr/>
        <a:lstStyle/>
        <a:p>
          <a:r>
            <a:rPr lang="en-US"/>
            <a:t>Interceptions significantly decrease rating.</a:t>
          </a:r>
        </a:p>
      </dgm:t>
    </dgm:pt>
    <dgm:pt modelId="{80DD0D7C-D857-4990-9A9B-48C3CECB7691}" type="parTrans" cxnId="{46D05371-8758-43A2-90C2-837DD557E03C}">
      <dgm:prSet/>
      <dgm:spPr/>
      <dgm:t>
        <a:bodyPr/>
        <a:lstStyle/>
        <a:p>
          <a:endParaRPr lang="en-US"/>
        </a:p>
      </dgm:t>
    </dgm:pt>
    <dgm:pt modelId="{49D58C6B-AD70-4B24-B9CC-7CF331E1C35D}" type="sibTrans" cxnId="{46D05371-8758-43A2-90C2-837DD557E03C}">
      <dgm:prSet/>
      <dgm:spPr/>
      <dgm:t>
        <a:bodyPr/>
        <a:lstStyle/>
        <a:p>
          <a:endParaRPr lang="en-US"/>
        </a:p>
      </dgm:t>
    </dgm:pt>
    <dgm:pt modelId="{DD2BE1BA-78C1-4347-B91E-4FBC898FBB5A}">
      <dgm:prSet/>
      <dgm:spPr/>
      <dgm:t>
        <a:bodyPr/>
        <a:lstStyle/>
        <a:p>
          <a:r>
            <a:rPr lang="en-US"/>
            <a:t>Yards contribute positively but are less impactful than TD/INT.</a:t>
          </a:r>
        </a:p>
      </dgm:t>
    </dgm:pt>
    <dgm:pt modelId="{FCBFFC65-DAD8-4AE0-83D9-29D7324F3F73}" type="parTrans" cxnId="{42DFE543-5D04-4020-B162-0B15D785B43D}">
      <dgm:prSet/>
      <dgm:spPr/>
      <dgm:t>
        <a:bodyPr/>
        <a:lstStyle/>
        <a:p>
          <a:endParaRPr lang="en-US"/>
        </a:p>
      </dgm:t>
    </dgm:pt>
    <dgm:pt modelId="{9B407B18-1929-4A5A-B6B5-875F3C6C2A7E}" type="sibTrans" cxnId="{42DFE543-5D04-4020-B162-0B15D785B43D}">
      <dgm:prSet/>
      <dgm:spPr/>
      <dgm:t>
        <a:bodyPr/>
        <a:lstStyle/>
        <a:p>
          <a:endParaRPr lang="en-US"/>
        </a:p>
      </dgm:t>
    </dgm:pt>
    <dgm:pt modelId="{D118043D-C49F-47D3-9248-08CC3D2C8A8B}">
      <dgm:prSet/>
      <dgm:spPr/>
      <dgm:t>
        <a:bodyPr/>
        <a:lstStyle/>
        <a:p>
          <a:r>
            <a:rPr lang="en-US"/>
            <a:t>This suggests efficiency and decision-making are more important than volume of passes alone.</a:t>
          </a:r>
        </a:p>
      </dgm:t>
    </dgm:pt>
    <dgm:pt modelId="{AFF067AE-C670-4F21-A0F3-75B14F3C6C88}" type="parTrans" cxnId="{4AA1B985-0BB6-408A-A378-963AB7C05BDB}">
      <dgm:prSet/>
      <dgm:spPr/>
      <dgm:t>
        <a:bodyPr/>
        <a:lstStyle/>
        <a:p>
          <a:endParaRPr lang="en-US"/>
        </a:p>
      </dgm:t>
    </dgm:pt>
    <dgm:pt modelId="{D3A3BEC4-88CA-43A2-8A3E-2ECC8DF7F489}" type="sibTrans" cxnId="{4AA1B985-0BB6-408A-A378-963AB7C05BDB}">
      <dgm:prSet/>
      <dgm:spPr/>
      <dgm:t>
        <a:bodyPr/>
        <a:lstStyle/>
        <a:p>
          <a:endParaRPr lang="en-US"/>
        </a:p>
      </dgm:t>
    </dgm:pt>
    <dgm:pt modelId="{E6E0F814-9C79-4DB5-9763-5A13955F8010}" type="pres">
      <dgm:prSet presAssocID="{44566228-0AAE-4944-8874-CE147E07A9FF}" presName="root" presStyleCnt="0">
        <dgm:presLayoutVars>
          <dgm:dir/>
          <dgm:resizeHandles val="exact"/>
        </dgm:presLayoutVars>
      </dgm:prSet>
      <dgm:spPr/>
    </dgm:pt>
    <dgm:pt modelId="{93B478CA-6DC1-4676-B9B1-164C5A1C0F27}" type="pres">
      <dgm:prSet presAssocID="{B3729688-A42D-40A4-8AA5-1B8DC23AEA8D}" presName="compNode" presStyleCnt="0"/>
      <dgm:spPr/>
    </dgm:pt>
    <dgm:pt modelId="{E534F956-17EB-4B11-B559-2D63A547AFC2}" type="pres">
      <dgm:prSet presAssocID="{B3729688-A42D-40A4-8AA5-1B8DC23AEA8D}" presName="bgRect" presStyleLbl="bgShp" presStyleIdx="0" presStyleCnt="4"/>
      <dgm:spPr/>
    </dgm:pt>
    <dgm:pt modelId="{DD6F6304-0AFE-48F6-94E1-0A3F5DF76465}" type="pres">
      <dgm:prSet presAssocID="{B3729688-A42D-40A4-8AA5-1B8DC23AEA8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84DC4FD-1183-465A-8792-48E0855AFAFD}" type="pres">
      <dgm:prSet presAssocID="{B3729688-A42D-40A4-8AA5-1B8DC23AEA8D}" presName="spaceRect" presStyleCnt="0"/>
      <dgm:spPr/>
    </dgm:pt>
    <dgm:pt modelId="{CFB1D28E-054C-4F9D-9C09-3069AE096861}" type="pres">
      <dgm:prSet presAssocID="{B3729688-A42D-40A4-8AA5-1B8DC23AEA8D}" presName="parTx" presStyleLbl="revTx" presStyleIdx="0" presStyleCnt="4">
        <dgm:presLayoutVars>
          <dgm:chMax val="0"/>
          <dgm:chPref val="0"/>
        </dgm:presLayoutVars>
      </dgm:prSet>
      <dgm:spPr/>
    </dgm:pt>
    <dgm:pt modelId="{2850C599-8B67-4B95-9016-AF6620B45C9F}" type="pres">
      <dgm:prSet presAssocID="{6616517B-5571-4286-994F-242CE8B8EA3F}" presName="sibTrans" presStyleCnt="0"/>
      <dgm:spPr/>
    </dgm:pt>
    <dgm:pt modelId="{52578854-6BE9-416F-9749-76553C197F50}" type="pres">
      <dgm:prSet presAssocID="{3E045CE1-386D-4F00-8107-F6DC5659CE19}" presName="compNode" presStyleCnt="0"/>
      <dgm:spPr/>
    </dgm:pt>
    <dgm:pt modelId="{EF7BB0B8-5489-420A-AB98-B4A69CA363C6}" type="pres">
      <dgm:prSet presAssocID="{3E045CE1-386D-4F00-8107-F6DC5659CE19}" presName="bgRect" presStyleLbl="bgShp" presStyleIdx="1" presStyleCnt="4"/>
      <dgm:spPr/>
    </dgm:pt>
    <dgm:pt modelId="{EAE2B145-63CE-476F-9980-EC7D2181451F}" type="pres">
      <dgm:prSet presAssocID="{3E045CE1-386D-4F00-8107-F6DC5659CE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E2D12F07-91A6-4815-ABA3-1F6647D0F0A6}" type="pres">
      <dgm:prSet presAssocID="{3E045CE1-386D-4F00-8107-F6DC5659CE19}" presName="spaceRect" presStyleCnt="0"/>
      <dgm:spPr/>
    </dgm:pt>
    <dgm:pt modelId="{1FFDFA8A-8F94-468D-96FF-3033A48C74FD}" type="pres">
      <dgm:prSet presAssocID="{3E045CE1-386D-4F00-8107-F6DC5659CE19}" presName="parTx" presStyleLbl="revTx" presStyleIdx="1" presStyleCnt="4">
        <dgm:presLayoutVars>
          <dgm:chMax val="0"/>
          <dgm:chPref val="0"/>
        </dgm:presLayoutVars>
      </dgm:prSet>
      <dgm:spPr/>
    </dgm:pt>
    <dgm:pt modelId="{6998D811-36EA-4721-9118-FFFE4170117E}" type="pres">
      <dgm:prSet presAssocID="{49D58C6B-AD70-4B24-B9CC-7CF331E1C35D}" presName="sibTrans" presStyleCnt="0"/>
      <dgm:spPr/>
    </dgm:pt>
    <dgm:pt modelId="{8B68B7A6-2875-437F-9089-59F4862CB82A}" type="pres">
      <dgm:prSet presAssocID="{DD2BE1BA-78C1-4347-B91E-4FBC898FBB5A}" presName="compNode" presStyleCnt="0"/>
      <dgm:spPr/>
    </dgm:pt>
    <dgm:pt modelId="{8C73155A-2FA9-435A-A78E-75FC4AD3E19B}" type="pres">
      <dgm:prSet presAssocID="{DD2BE1BA-78C1-4347-B91E-4FBC898FBB5A}" presName="bgRect" presStyleLbl="bgShp" presStyleIdx="2" presStyleCnt="4"/>
      <dgm:spPr/>
    </dgm:pt>
    <dgm:pt modelId="{9CD01094-9C21-4E03-85CD-E62827A3C575}" type="pres">
      <dgm:prSet presAssocID="{DD2BE1BA-78C1-4347-B91E-4FBC898FBB5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D611B2B-9E4E-48B6-B8EB-6A1416B7F43E}" type="pres">
      <dgm:prSet presAssocID="{DD2BE1BA-78C1-4347-B91E-4FBC898FBB5A}" presName="spaceRect" presStyleCnt="0"/>
      <dgm:spPr/>
    </dgm:pt>
    <dgm:pt modelId="{B1762978-FE08-4959-842E-25D7A632E7B4}" type="pres">
      <dgm:prSet presAssocID="{DD2BE1BA-78C1-4347-B91E-4FBC898FBB5A}" presName="parTx" presStyleLbl="revTx" presStyleIdx="2" presStyleCnt="4">
        <dgm:presLayoutVars>
          <dgm:chMax val="0"/>
          <dgm:chPref val="0"/>
        </dgm:presLayoutVars>
      </dgm:prSet>
      <dgm:spPr/>
    </dgm:pt>
    <dgm:pt modelId="{1BF39153-9B7E-4D23-97FA-2B541811DE40}" type="pres">
      <dgm:prSet presAssocID="{9B407B18-1929-4A5A-B6B5-875F3C6C2A7E}" presName="sibTrans" presStyleCnt="0"/>
      <dgm:spPr/>
    </dgm:pt>
    <dgm:pt modelId="{9A3CA9F9-8FAF-4551-837D-8249301A58D8}" type="pres">
      <dgm:prSet presAssocID="{D118043D-C49F-47D3-9248-08CC3D2C8A8B}" presName="compNode" presStyleCnt="0"/>
      <dgm:spPr/>
    </dgm:pt>
    <dgm:pt modelId="{4551782C-9E7E-49E4-B3C6-B7480F48797B}" type="pres">
      <dgm:prSet presAssocID="{D118043D-C49F-47D3-9248-08CC3D2C8A8B}" presName="bgRect" presStyleLbl="bgShp" presStyleIdx="3" presStyleCnt="4"/>
      <dgm:spPr/>
    </dgm:pt>
    <dgm:pt modelId="{9521861E-A72E-470E-8508-C843D1A395C6}" type="pres">
      <dgm:prSet presAssocID="{D118043D-C49F-47D3-9248-08CC3D2C8A8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B816FD9C-8266-44F5-8858-5C9B1E51970A}" type="pres">
      <dgm:prSet presAssocID="{D118043D-C49F-47D3-9248-08CC3D2C8A8B}" presName="spaceRect" presStyleCnt="0"/>
      <dgm:spPr/>
    </dgm:pt>
    <dgm:pt modelId="{BE25CAEC-F624-40FE-8D0A-ADAFDD4C95B5}" type="pres">
      <dgm:prSet presAssocID="{D118043D-C49F-47D3-9248-08CC3D2C8A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7C0FB0D-ACB8-48D7-933F-379FDB6E3493}" type="presOf" srcId="{3E045CE1-386D-4F00-8107-F6DC5659CE19}" destId="{1FFDFA8A-8F94-468D-96FF-3033A48C74FD}" srcOrd="0" destOrd="0" presId="urn:microsoft.com/office/officeart/2018/2/layout/IconVerticalSolidList"/>
    <dgm:cxn modelId="{0050932D-1CA5-4C3F-BB83-CE7D08F5CFC9}" type="presOf" srcId="{DD2BE1BA-78C1-4347-B91E-4FBC898FBB5A}" destId="{B1762978-FE08-4959-842E-25D7A632E7B4}" srcOrd="0" destOrd="0" presId="urn:microsoft.com/office/officeart/2018/2/layout/IconVerticalSolidList"/>
    <dgm:cxn modelId="{5F093741-16E0-4E46-B8C4-ABFD2C741071}" srcId="{44566228-0AAE-4944-8874-CE147E07A9FF}" destId="{B3729688-A42D-40A4-8AA5-1B8DC23AEA8D}" srcOrd="0" destOrd="0" parTransId="{D7EBBE74-D0B1-40AC-AFEA-EFAA7FB2546B}" sibTransId="{6616517B-5571-4286-994F-242CE8B8EA3F}"/>
    <dgm:cxn modelId="{42DFE543-5D04-4020-B162-0B15D785B43D}" srcId="{44566228-0AAE-4944-8874-CE147E07A9FF}" destId="{DD2BE1BA-78C1-4347-B91E-4FBC898FBB5A}" srcOrd="2" destOrd="0" parTransId="{FCBFFC65-DAD8-4AE0-83D9-29D7324F3F73}" sibTransId="{9B407B18-1929-4A5A-B6B5-875F3C6C2A7E}"/>
    <dgm:cxn modelId="{EBC7D44C-C89F-4E1D-847F-3139937D41B3}" type="presOf" srcId="{44566228-0AAE-4944-8874-CE147E07A9FF}" destId="{E6E0F814-9C79-4DB5-9763-5A13955F8010}" srcOrd="0" destOrd="0" presId="urn:microsoft.com/office/officeart/2018/2/layout/IconVerticalSolidList"/>
    <dgm:cxn modelId="{46D05371-8758-43A2-90C2-837DD557E03C}" srcId="{44566228-0AAE-4944-8874-CE147E07A9FF}" destId="{3E045CE1-386D-4F00-8107-F6DC5659CE19}" srcOrd="1" destOrd="0" parTransId="{80DD0D7C-D857-4990-9A9B-48C3CECB7691}" sibTransId="{49D58C6B-AD70-4B24-B9CC-7CF331E1C35D}"/>
    <dgm:cxn modelId="{4AA1B985-0BB6-408A-A378-963AB7C05BDB}" srcId="{44566228-0AAE-4944-8874-CE147E07A9FF}" destId="{D118043D-C49F-47D3-9248-08CC3D2C8A8B}" srcOrd="3" destOrd="0" parTransId="{AFF067AE-C670-4F21-A0F3-75B14F3C6C88}" sibTransId="{D3A3BEC4-88CA-43A2-8A3E-2ECC8DF7F489}"/>
    <dgm:cxn modelId="{6F8DF8A1-79D4-457E-8E18-C3453618F54A}" type="presOf" srcId="{B3729688-A42D-40A4-8AA5-1B8DC23AEA8D}" destId="{CFB1D28E-054C-4F9D-9C09-3069AE096861}" srcOrd="0" destOrd="0" presId="urn:microsoft.com/office/officeart/2018/2/layout/IconVerticalSolidList"/>
    <dgm:cxn modelId="{F154DCC8-05CF-472F-ACD0-3D98B4F194E6}" type="presOf" srcId="{D118043D-C49F-47D3-9248-08CC3D2C8A8B}" destId="{BE25CAEC-F624-40FE-8D0A-ADAFDD4C95B5}" srcOrd="0" destOrd="0" presId="urn:microsoft.com/office/officeart/2018/2/layout/IconVerticalSolidList"/>
    <dgm:cxn modelId="{2FE35A6B-578D-4335-9556-FA34A8EDD225}" type="presParOf" srcId="{E6E0F814-9C79-4DB5-9763-5A13955F8010}" destId="{93B478CA-6DC1-4676-B9B1-164C5A1C0F27}" srcOrd="0" destOrd="0" presId="urn:microsoft.com/office/officeart/2018/2/layout/IconVerticalSolidList"/>
    <dgm:cxn modelId="{68AEF427-8B5A-42DF-ADE3-A9992A97D4C4}" type="presParOf" srcId="{93B478CA-6DC1-4676-B9B1-164C5A1C0F27}" destId="{E534F956-17EB-4B11-B559-2D63A547AFC2}" srcOrd="0" destOrd="0" presId="urn:microsoft.com/office/officeart/2018/2/layout/IconVerticalSolidList"/>
    <dgm:cxn modelId="{07621DED-556E-4EE4-A923-C9D7C336CF1B}" type="presParOf" srcId="{93B478CA-6DC1-4676-B9B1-164C5A1C0F27}" destId="{DD6F6304-0AFE-48F6-94E1-0A3F5DF76465}" srcOrd="1" destOrd="0" presId="urn:microsoft.com/office/officeart/2018/2/layout/IconVerticalSolidList"/>
    <dgm:cxn modelId="{53760AE0-38A1-473E-B6AB-7A15EFB40605}" type="presParOf" srcId="{93B478CA-6DC1-4676-B9B1-164C5A1C0F27}" destId="{C84DC4FD-1183-465A-8792-48E0855AFAFD}" srcOrd="2" destOrd="0" presId="urn:microsoft.com/office/officeart/2018/2/layout/IconVerticalSolidList"/>
    <dgm:cxn modelId="{79687386-8148-4BAB-9024-C0A436402654}" type="presParOf" srcId="{93B478CA-6DC1-4676-B9B1-164C5A1C0F27}" destId="{CFB1D28E-054C-4F9D-9C09-3069AE096861}" srcOrd="3" destOrd="0" presId="urn:microsoft.com/office/officeart/2018/2/layout/IconVerticalSolidList"/>
    <dgm:cxn modelId="{AF0AA20C-F77C-4093-BDAB-3C62756BB1CD}" type="presParOf" srcId="{E6E0F814-9C79-4DB5-9763-5A13955F8010}" destId="{2850C599-8B67-4B95-9016-AF6620B45C9F}" srcOrd="1" destOrd="0" presId="urn:microsoft.com/office/officeart/2018/2/layout/IconVerticalSolidList"/>
    <dgm:cxn modelId="{A24D912C-6F1F-4725-9FC5-5AF22E8CBDBC}" type="presParOf" srcId="{E6E0F814-9C79-4DB5-9763-5A13955F8010}" destId="{52578854-6BE9-416F-9749-76553C197F50}" srcOrd="2" destOrd="0" presId="urn:microsoft.com/office/officeart/2018/2/layout/IconVerticalSolidList"/>
    <dgm:cxn modelId="{781CC226-6ACC-49D2-8B9E-37C180AC6298}" type="presParOf" srcId="{52578854-6BE9-416F-9749-76553C197F50}" destId="{EF7BB0B8-5489-420A-AB98-B4A69CA363C6}" srcOrd="0" destOrd="0" presId="urn:microsoft.com/office/officeart/2018/2/layout/IconVerticalSolidList"/>
    <dgm:cxn modelId="{0A4A0440-1D9C-4D5C-A417-8EE858ACD055}" type="presParOf" srcId="{52578854-6BE9-416F-9749-76553C197F50}" destId="{EAE2B145-63CE-476F-9980-EC7D2181451F}" srcOrd="1" destOrd="0" presId="urn:microsoft.com/office/officeart/2018/2/layout/IconVerticalSolidList"/>
    <dgm:cxn modelId="{BBA651E3-A1DB-4542-91A9-E3028C0BFFA0}" type="presParOf" srcId="{52578854-6BE9-416F-9749-76553C197F50}" destId="{E2D12F07-91A6-4815-ABA3-1F6647D0F0A6}" srcOrd="2" destOrd="0" presId="urn:microsoft.com/office/officeart/2018/2/layout/IconVerticalSolidList"/>
    <dgm:cxn modelId="{9E5D16A3-97C2-4B0A-8F9A-0AB3CEF6E45B}" type="presParOf" srcId="{52578854-6BE9-416F-9749-76553C197F50}" destId="{1FFDFA8A-8F94-468D-96FF-3033A48C74FD}" srcOrd="3" destOrd="0" presId="urn:microsoft.com/office/officeart/2018/2/layout/IconVerticalSolidList"/>
    <dgm:cxn modelId="{3AA62DFA-6FE5-4FE2-B693-CC1CB56A228C}" type="presParOf" srcId="{E6E0F814-9C79-4DB5-9763-5A13955F8010}" destId="{6998D811-36EA-4721-9118-FFFE4170117E}" srcOrd="3" destOrd="0" presId="urn:microsoft.com/office/officeart/2018/2/layout/IconVerticalSolidList"/>
    <dgm:cxn modelId="{3789B336-61AE-4A93-A8A7-BA66DC5F8257}" type="presParOf" srcId="{E6E0F814-9C79-4DB5-9763-5A13955F8010}" destId="{8B68B7A6-2875-437F-9089-59F4862CB82A}" srcOrd="4" destOrd="0" presId="urn:microsoft.com/office/officeart/2018/2/layout/IconVerticalSolidList"/>
    <dgm:cxn modelId="{6FBC7411-86E4-4660-A826-BC3760072111}" type="presParOf" srcId="{8B68B7A6-2875-437F-9089-59F4862CB82A}" destId="{8C73155A-2FA9-435A-A78E-75FC4AD3E19B}" srcOrd="0" destOrd="0" presId="urn:microsoft.com/office/officeart/2018/2/layout/IconVerticalSolidList"/>
    <dgm:cxn modelId="{2E06534E-93EA-40BF-B950-558BDF05CF35}" type="presParOf" srcId="{8B68B7A6-2875-437F-9089-59F4862CB82A}" destId="{9CD01094-9C21-4E03-85CD-E62827A3C575}" srcOrd="1" destOrd="0" presId="urn:microsoft.com/office/officeart/2018/2/layout/IconVerticalSolidList"/>
    <dgm:cxn modelId="{61C4CCC1-ACED-4165-B1FC-35BCAABFAF90}" type="presParOf" srcId="{8B68B7A6-2875-437F-9089-59F4862CB82A}" destId="{CD611B2B-9E4E-48B6-B8EB-6A1416B7F43E}" srcOrd="2" destOrd="0" presId="urn:microsoft.com/office/officeart/2018/2/layout/IconVerticalSolidList"/>
    <dgm:cxn modelId="{4B6CC7ED-3658-4880-8D1D-7C42B10F4634}" type="presParOf" srcId="{8B68B7A6-2875-437F-9089-59F4862CB82A}" destId="{B1762978-FE08-4959-842E-25D7A632E7B4}" srcOrd="3" destOrd="0" presId="urn:microsoft.com/office/officeart/2018/2/layout/IconVerticalSolidList"/>
    <dgm:cxn modelId="{FCB43AA2-5E3D-4387-A257-D9826D3D1F60}" type="presParOf" srcId="{E6E0F814-9C79-4DB5-9763-5A13955F8010}" destId="{1BF39153-9B7E-4D23-97FA-2B541811DE40}" srcOrd="5" destOrd="0" presId="urn:microsoft.com/office/officeart/2018/2/layout/IconVerticalSolidList"/>
    <dgm:cxn modelId="{20E44D3A-E2E9-4E5F-B7A5-C0DBE6C47BC2}" type="presParOf" srcId="{E6E0F814-9C79-4DB5-9763-5A13955F8010}" destId="{9A3CA9F9-8FAF-4551-837D-8249301A58D8}" srcOrd="6" destOrd="0" presId="urn:microsoft.com/office/officeart/2018/2/layout/IconVerticalSolidList"/>
    <dgm:cxn modelId="{6A533363-C6C6-412B-BF9D-E5D58E512DE9}" type="presParOf" srcId="{9A3CA9F9-8FAF-4551-837D-8249301A58D8}" destId="{4551782C-9E7E-49E4-B3C6-B7480F48797B}" srcOrd="0" destOrd="0" presId="urn:microsoft.com/office/officeart/2018/2/layout/IconVerticalSolidList"/>
    <dgm:cxn modelId="{4A696AF3-64A3-439B-A6B8-29ADFBAB3B43}" type="presParOf" srcId="{9A3CA9F9-8FAF-4551-837D-8249301A58D8}" destId="{9521861E-A72E-470E-8508-C843D1A395C6}" srcOrd="1" destOrd="0" presId="urn:microsoft.com/office/officeart/2018/2/layout/IconVerticalSolidList"/>
    <dgm:cxn modelId="{63633639-70D9-4396-A546-B7169C1D2AAB}" type="presParOf" srcId="{9A3CA9F9-8FAF-4551-837D-8249301A58D8}" destId="{B816FD9C-8266-44F5-8858-5C9B1E51970A}" srcOrd="2" destOrd="0" presId="urn:microsoft.com/office/officeart/2018/2/layout/IconVerticalSolidList"/>
    <dgm:cxn modelId="{3BAF79D5-B562-4310-B5A5-CBA783DAE99F}" type="presParOf" srcId="{9A3CA9F9-8FAF-4551-837D-8249301A58D8}" destId="{BE25CAEC-F624-40FE-8D0A-ADAFDD4C95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4F956-17EB-4B11-B559-2D63A547AFC2}">
      <dsp:nvSpPr>
        <dsp:cNvPr id="0" name=""/>
        <dsp:cNvSpPr/>
      </dsp:nvSpPr>
      <dsp:spPr>
        <a:xfrm>
          <a:off x="0" y="2190"/>
          <a:ext cx="4613672" cy="11099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F6304-0AFE-48F6-94E1-0A3F5DF76465}">
      <dsp:nvSpPr>
        <dsp:cNvPr id="0" name=""/>
        <dsp:cNvSpPr/>
      </dsp:nvSpPr>
      <dsp:spPr>
        <a:xfrm>
          <a:off x="335773" y="251938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1D28E-054C-4F9D-9C09-3069AE096861}">
      <dsp:nvSpPr>
        <dsp:cNvPr id="0" name=""/>
        <dsp:cNvSpPr/>
      </dsp:nvSpPr>
      <dsp:spPr>
        <a:xfrm>
          <a:off x="1282042" y="2190"/>
          <a:ext cx="3331629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Touchdowns have a strong positive effect on passer rating.</a:t>
          </a:r>
        </a:p>
      </dsp:txBody>
      <dsp:txXfrm>
        <a:off x="1282042" y="2190"/>
        <a:ext cx="3331629" cy="1109993"/>
      </dsp:txXfrm>
    </dsp:sp>
    <dsp:sp modelId="{EF7BB0B8-5489-420A-AB98-B4A69CA363C6}">
      <dsp:nvSpPr>
        <dsp:cNvPr id="0" name=""/>
        <dsp:cNvSpPr/>
      </dsp:nvSpPr>
      <dsp:spPr>
        <a:xfrm>
          <a:off x="0" y="1389682"/>
          <a:ext cx="4613672" cy="11099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2B145-63CE-476F-9980-EC7D2181451F}">
      <dsp:nvSpPr>
        <dsp:cNvPr id="0" name=""/>
        <dsp:cNvSpPr/>
      </dsp:nvSpPr>
      <dsp:spPr>
        <a:xfrm>
          <a:off x="335773" y="1639430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DFA8A-8F94-468D-96FF-3033A48C74FD}">
      <dsp:nvSpPr>
        <dsp:cNvPr id="0" name=""/>
        <dsp:cNvSpPr/>
      </dsp:nvSpPr>
      <dsp:spPr>
        <a:xfrm>
          <a:off x="1282042" y="1389682"/>
          <a:ext cx="3331629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Interceptions significantly decrease rating.</a:t>
          </a:r>
        </a:p>
      </dsp:txBody>
      <dsp:txXfrm>
        <a:off x="1282042" y="1389682"/>
        <a:ext cx="3331629" cy="1109993"/>
      </dsp:txXfrm>
    </dsp:sp>
    <dsp:sp modelId="{8C73155A-2FA9-435A-A78E-75FC4AD3E19B}">
      <dsp:nvSpPr>
        <dsp:cNvPr id="0" name=""/>
        <dsp:cNvSpPr/>
      </dsp:nvSpPr>
      <dsp:spPr>
        <a:xfrm>
          <a:off x="0" y="2777174"/>
          <a:ext cx="4613672" cy="11099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01094-9C21-4E03-85CD-E62827A3C575}">
      <dsp:nvSpPr>
        <dsp:cNvPr id="0" name=""/>
        <dsp:cNvSpPr/>
      </dsp:nvSpPr>
      <dsp:spPr>
        <a:xfrm>
          <a:off x="335773" y="3026922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62978-FE08-4959-842E-25D7A632E7B4}">
      <dsp:nvSpPr>
        <dsp:cNvPr id="0" name=""/>
        <dsp:cNvSpPr/>
      </dsp:nvSpPr>
      <dsp:spPr>
        <a:xfrm>
          <a:off x="1282042" y="2777174"/>
          <a:ext cx="3331629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Yards contribute positively but are less impactful than TD/INT.</a:t>
          </a:r>
        </a:p>
      </dsp:txBody>
      <dsp:txXfrm>
        <a:off x="1282042" y="2777174"/>
        <a:ext cx="3331629" cy="1109993"/>
      </dsp:txXfrm>
    </dsp:sp>
    <dsp:sp modelId="{4551782C-9E7E-49E4-B3C6-B7480F48797B}">
      <dsp:nvSpPr>
        <dsp:cNvPr id="0" name=""/>
        <dsp:cNvSpPr/>
      </dsp:nvSpPr>
      <dsp:spPr>
        <a:xfrm>
          <a:off x="0" y="4164666"/>
          <a:ext cx="4613672" cy="11099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1861E-A72E-470E-8508-C843D1A395C6}">
      <dsp:nvSpPr>
        <dsp:cNvPr id="0" name=""/>
        <dsp:cNvSpPr/>
      </dsp:nvSpPr>
      <dsp:spPr>
        <a:xfrm>
          <a:off x="335773" y="4414414"/>
          <a:ext cx="610496" cy="6104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5CAEC-F624-40FE-8D0A-ADAFDD4C95B5}">
      <dsp:nvSpPr>
        <dsp:cNvPr id="0" name=""/>
        <dsp:cNvSpPr/>
      </dsp:nvSpPr>
      <dsp:spPr>
        <a:xfrm>
          <a:off x="1282042" y="4164666"/>
          <a:ext cx="3331629" cy="1109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74" tIns="117474" rIns="117474" bIns="1174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suggests efficiency and decision-making are more important than volume of passes alone.</a:t>
          </a:r>
        </a:p>
      </dsp:txBody>
      <dsp:txXfrm>
        <a:off x="1282042" y="4164666"/>
        <a:ext cx="3331629" cy="1109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65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6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4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7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2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8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7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9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2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1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stinsere/Justin-Sere-BSAN360-Final-Project-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ishabjadhav/nfl-passing-statistics-2001-202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23" y="598730"/>
            <a:ext cx="8753354" cy="1345816"/>
          </a:xfrm>
        </p:spPr>
        <p:txBody>
          <a:bodyPr>
            <a:normAutofit/>
          </a:bodyPr>
          <a:lstStyle/>
          <a:p>
            <a:r>
              <a:rPr dirty="0"/>
              <a:t>Evolution of Quarterback Performance in the NFL (2001–Present)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0683" y="2801073"/>
            <a:ext cx="4282633" cy="30325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Justin Sere</a:t>
            </a:r>
            <a:endParaRPr sz="2400" dirty="0"/>
          </a:p>
          <a:p>
            <a:pPr marL="0" indent="0" algn="ctr">
              <a:buNone/>
            </a:pPr>
            <a:r>
              <a:rPr sz="2400" dirty="0"/>
              <a:t>BSAN 360</a:t>
            </a:r>
          </a:p>
          <a:p>
            <a:pPr marL="0" indent="0" algn="ctr">
              <a:buNone/>
            </a:pPr>
            <a:r>
              <a:rPr lang="en-US" sz="2400" dirty="0"/>
              <a:t>03/20/2026</a:t>
            </a:r>
            <a:endParaRPr sz="2400" dirty="0"/>
          </a:p>
          <a:p>
            <a:pPr marL="0" indent="0">
              <a:buNone/>
            </a:pPr>
            <a:r>
              <a:rPr sz="2400" dirty="0"/>
              <a:t>GitHub: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err="1">
                <a:hlinkClick r:id="rId2"/>
              </a:rPr>
              <a:t>github.com</a:t>
            </a:r>
            <a:r>
              <a:rPr lang="en-US" sz="2400" dirty="0">
                <a:hlinkClick r:id="rId2"/>
              </a:rPr>
              <a:t>/</a:t>
            </a:r>
            <a:r>
              <a:rPr lang="en-US" sz="2400" dirty="0" err="1">
                <a:hlinkClick r:id="rId2"/>
              </a:rPr>
              <a:t>justinsere</a:t>
            </a:r>
            <a:r>
              <a:rPr lang="en-US" sz="2400" dirty="0">
                <a:hlinkClick r:id="rId2"/>
              </a:rPr>
              <a:t>/Justin-Sere-BSAN360-Final-Project-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35" y="2708804"/>
            <a:ext cx="27741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/>
                </a:solidFill>
              </a:rPr>
              <a:t>Dataset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6886" y="802638"/>
            <a:ext cx="4056522" cy="5252722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For this project, I chose to take data from NFL Passing Statistics (2001–Present) to answer questions about how passing in the NFL has changed over the history of the league.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Source: </a:t>
            </a:r>
            <a:r>
              <a:rPr lang="en-US" sz="2000" dirty="0">
                <a:solidFill>
                  <a:schemeClr val="bg1"/>
                </a:solidFill>
                <a:hlinkClick r:id="rId2"/>
              </a:rPr>
              <a:t>https://www.kaggle.com/datasets/rishabjadhav/nfl-passing-statistics-2001-2023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Size: ~2,350 rows, 27 columns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Each row represents a QB's performance in one season.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59" y="640079"/>
            <a:ext cx="2551898" cy="5272242"/>
          </a:xfrm>
        </p:spPr>
        <p:txBody>
          <a:bodyPr>
            <a:normAutofit/>
          </a:bodyPr>
          <a:lstStyle/>
          <a:p>
            <a:r>
              <a:rPr dirty="0"/>
              <a:t>Key Variables &amp; Summary </a:t>
            </a:r>
            <a:r>
              <a:rPr lang="en-US" dirty="0"/>
              <a:t>of </a:t>
            </a:r>
            <a:r>
              <a:rPr dirty="0"/>
              <a:t>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1637" y="640079"/>
            <a:ext cx="5162304" cy="2834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Key Variables:</a:t>
            </a:r>
          </a:p>
          <a:p>
            <a:r>
              <a:rPr dirty="0"/>
              <a:t>Passing Yards (Yds)</a:t>
            </a:r>
          </a:p>
          <a:p>
            <a:r>
              <a:rPr dirty="0"/>
              <a:t>Touchdowns (TD)</a:t>
            </a:r>
          </a:p>
          <a:p>
            <a:r>
              <a:rPr dirty="0"/>
              <a:t>Interceptions (Int)</a:t>
            </a:r>
          </a:p>
          <a:p>
            <a:r>
              <a:rPr dirty="0"/>
              <a:t>Passer Rating (Rate)</a:t>
            </a:r>
            <a:endParaRPr lang="en-US" dirty="0"/>
          </a:p>
          <a:p>
            <a:r>
              <a:rPr dirty="0"/>
              <a:t> Attempts (</a:t>
            </a:r>
            <a:r>
              <a:rPr dirty="0" err="1"/>
              <a:t>Att</a:t>
            </a:r>
            <a:r>
              <a:rPr dirty="0"/>
              <a:t>)</a:t>
            </a:r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129DC-21CF-2DC1-B51D-AC83B5EC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081" y="3893967"/>
            <a:ext cx="5996296" cy="1604008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otball line of scrimmage">
            <a:extLst>
              <a:ext uri="{FF2B5EF4-FFF2-40B4-BE49-F238E27FC236}">
                <a16:creationId xmlns:a16="http://schemas.microsoft.com/office/drawing/2014/main" id="{D7312347-2E70-F2CD-50F6-3CB4CF1CC6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8" r="13950"/>
          <a:stretch>
            <a:fillRect/>
          </a:stretch>
        </p:blipFill>
        <p:spPr>
          <a:xfrm>
            <a:off x="20" y="0"/>
            <a:ext cx="565325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844368"/>
            <a:ext cx="444627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Research Questions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D8C857-9447-4941-8520-9A44A926F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3278" y="674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9115" y="966860"/>
            <a:ext cx="3059048" cy="4924280"/>
          </a:xfrm>
        </p:spPr>
        <p:txBody>
          <a:bodyPr anchor="ctr"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1. How have passing yards changed over time?</a:t>
            </a:r>
          </a:p>
          <a:p>
            <a:r>
              <a:rPr lang="en-US" sz="2800" dirty="0">
                <a:solidFill>
                  <a:srgbClr val="FFFFFF"/>
                </a:solidFill>
              </a:rPr>
              <a:t>2. What factors predict passer rating?</a:t>
            </a:r>
          </a:p>
          <a:p>
            <a:r>
              <a:rPr lang="en-US" sz="2800" dirty="0">
                <a:solidFill>
                  <a:srgbClr val="FFFFFF"/>
                </a:solidFill>
              </a:rPr>
              <a:t>3. Are modern quarterbacks more efficient than earlier ones?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Trend: Passing Yards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778679"/>
            <a:ext cx="2522980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Passing yards have steadily increased over time, reflecting a shift toward pass-heavy offenses and rule changes favoring passing.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E62AC-55FB-6F72-6DCF-F1619B29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60" y="1702108"/>
            <a:ext cx="5482200" cy="3453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increase in passing yards is likely driven by:</a:t>
            </a:r>
          </a:p>
          <a:p>
            <a:r>
              <a:rPr dirty="0"/>
              <a:t>Rule changes (</a:t>
            </a:r>
            <a:r>
              <a:rPr lang="en-US" dirty="0">
                <a:solidFill>
                  <a:schemeClr val="tx1"/>
                </a:solidFill>
              </a:rPr>
              <a:t>Illegal contact enforcement in 2004 is a great example of a rule change that would impact this</a:t>
            </a:r>
            <a:r>
              <a:rPr dirty="0"/>
              <a:t>)</a:t>
            </a:r>
          </a:p>
          <a:p>
            <a:r>
              <a:rPr dirty="0"/>
              <a:t>Increased QB protection</a:t>
            </a:r>
          </a:p>
          <a:p>
            <a:r>
              <a:rPr dirty="0"/>
              <a:t>Evolution of offensive schemes</a:t>
            </a:r>
          </a:p>
          <a:p>
            <a:r>
              <a:rPr dirty="0"/>
              <a:t>Spikes/dips may reflect standou</a:t>
            </a:r>
            <a:r>
              <a:rPr lang="en-US" dirty="0"/>
              <a:t>t </a:t>
            </a:r>
            <a:r>
              <a:rPr dirty="0"/>
              <a:t>QB classes,</a:t>
            </a:r>
            <a:r>
              <a:rPr lang="en-US" dirty="0"/>
              <a:t> or on the other hand a season full of</a:t>
            </a:r>
            <a:r>
              <a:rPr dirty="0"/>
              <a:t> injuries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regression output]</a:t>
            </a:r>
          </a:p>
          <a:p>
            <a:endParaRPr/>
          </a:p>
          <a:p>
            <a:r>
              <a:t>Focus on:</a:t>
            </a:r>
          </a:p>
          <a:p>
            <a:r>
              <a:t>- Coefficients</a:t>
            </a:r>
          </a:p>
          <a:p>
            <a:r>
              <a:t>- p-values</a:t>
            </a:r>
          </a:p>
          <a:p>
            <a:r>
              <a:t>- R-squared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4B603-EEDD-962E-F6C6-F8793F02B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239586"/>
            <a:ext cx="5689600" cy="3898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53691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85" y="2509592"/>
            <a:ext cx="3200689" cy="1838813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 sz="2400" dirty="0"/>
              <a:t>Regression Interpretation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4958" y="0"/>
            <a:ext cx="557904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ED88C3-0C61-FD04-E0FB-3B04CBB8A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008921"/>
              </p:ext>
            </p:extLst>
          </p:nvPr>
        </p:nvGraphicFramePr>
        <p:xfrm>
          <a:off x="4048125" y="639763"/>
          <a:ext cx="4613672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Efficiency by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061" y="2895611"/>
            <a:ext cx="2874057" cy="27326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Passer rating appears higher in modern eras compared to early 2000s.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72C90-90FD-E1E8-77F0-DE033020B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206" y="1431359"/>
            <a:ext cx="5454309" cy="3995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837371"/>
            <a:ext cx="5937755" cy="1188720"/>
          </a:xfrm>
        </p:spPr>
        <p:txBody>
          <a:bodyPr/>
          <a:lstStyle/>
          <a:p>
            <a:r>
              <a:t>ANOVA 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071" y="2710302"/>
            <a:ext cx="7459855" cy="310198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sz="2400" dirty="0"/>
              <a:t>Since </a:t>
            </a:r>
            <a:r>
              <a:rPr sz="2400" dirty="0"/>
              <a:t>p-value </a:t>
            </a:r>
            <a:r>
              <a:rPr lang="en-US" sz="2400" dirty="0"/>
              <a:t>of 4.759e-17 </a:t>
            </a:r>
            <a:r>
              <a:rPr sz="2400" dirty="0"/>
              <a:t>&lt; 0.05:</a:t>
            </a:r>
          </a:p>
          <a:p>
            <a:r>
              <a:rPr sz="2400" dirty="0"/>
              <a:t>There is a statistically significant difference in QB efficiency across eras.</a:t>
            </a:r>
          </a:p>
          <a:p>
            <a:r>
              <a:rPr sz="2400" dirty="0"/>
              <a:t>Modern QBs benefit from improved coaching, analytics, and favorable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46" y="814131"/>
            <a:ext cx="3014969" cy="1429994"/>
          </a:xfrm>
        </p:spPr>
        <p:txBody>
          <a:bodyPr>
            <a:noAutofit/>
          </a:bodyPr>
          <a:lstStyle/>
          <a:p>
            <a:r>
              <a:rPr lang="en-US" sz="2100" dirty="0"/>
              <a:t>Touchdowns vs Interceptions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90" y="2460640"/>
            <a:ext cx="2898673" cy="367394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2000" dirty="0"/>
              <a:t>Interpretation: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Most QBs cluster around moderate TD and low INT values.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Elite seasons (high TD, low INT) are rare, showing difficulty in achieving both volume and efficiency.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0636" y="964692"/>
            <a:ext cx="516407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3351" y="1128683"/>
            <a:ext cx="4918644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AEBB2-F569-EF25-D7E7-CBAC67A25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524" y="1488960"/>
            <a:ext cx="4670298" cy="38880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3764AE-D7B7-4CB5-A0E1-2885E459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82" y="2246431"/>
            <a:ext cx="3310359" cy="2673194"/>
          </a:xfr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 &amp; Recommendations</a:t>
            </a: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9C095C-3AB6-49D8-9436-3672566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894" y="938876"/>
            <a:ext cx="4950759" cy="52883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Key Findings:</a:t>
            </a:r>
          </a:p>
          <a:p>
            <a:r>
              <a:rPr lang="en-US" dirty="0">
                <a:solidFill>
                  <a:schemeClr val="tx1"/>
                </a:solidFill>
              </a:rPr>
              <a:t>Passing plays in the NFL have increased over time</a:t>
            </a:r>
          </a:p>
          <a:p>
            <a:r>
              <a:rPr lang="en-US" dirty="0">
                <a:solidFill>
                  <a:schemeClr val="tx1"/>
                </a:solidFill>
              </a:rPr>
              <a:t>Efficiency has improved in Quarterbacks</a:t>
            </a:r>
          </a:p>
          <a:p>
            <a:r>
              <a:rPr lang="en-US" dirty="0">
                <a:solidFill>
                  <a:schemeClr val="tx1"/>
                </a:solidFill>
              </a:rPr>
              <a:t>TD and INT are the strongest predictors of a good or bad passer rating in the NFL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Recommendations:</a:t>
            </a:r>
          </a:p>
          <a:p>
            <a:r>
              <a:rPr lang="en-US" dirty="0">
                <a:solidFill>
                  <a:schemeClr val="tx1"/>
                </a:solidFill>
              </a:rPr>
              <a:t>Prioritize decision-making in play-calling (reduce INTs)</a:t>
            </a:r>
          </a:p>
          <a:p>
            <a:r>
              <a:rPr lang="en-US" dirty="0">
                <a:solidFill>
                  <a:schemeClr val="tx1"/>
                </a:solidFill>
              </a:rPr>
              <a:t>Focus on efficient passing strategies rather than letting QB freestyle</a:t>
            </a:r>
          </a:p>
          <a:p>
            <a:r>
              <a:rPr lang="en-US" dirty="0">
                <a:solidFill>
                  <a:schemeClr val="tx1"/>
                </a:solidFill>
              </a:rPr>
              <a:t>Adapt to modern pass-heavy trends while taking other recommendations into factor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391</TotalTime>
  <Words>464</Words>
  <Application>Microsoft Macintosh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Evolution of Quarterback Performance in the NFL (2001–Present)</vt:lpstr>
      <vt:lpstr>Dataset Overview</vt:lpstr>
      <vt:lpstr>Key Variables &amp; Summary of Statistics</vt:lpstr>
      <vt:lpstr>Research Questions</vt:lpstr>
      <vt:lpstr>Trend: Passing Yards Over Time</vt:lpstr>
      <vt:lpstr>Trend Interpretation</vt:lpstr>
      <vt:lpstr>Regression Results</vt:lpstr>
      <vt:lpstr>Regression Interpretation</vt:lpstr>
      <vt:lpstr>Efficiency by Era</vt:lpstr>
      <vt:lpstr>ANOVA Results &amp; Interpretation</vt:lpstr>
      <vt:lpstr>Touchdowns vs Interceptions Heatmap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Sere,Justin</cp:lastModifiedBy>
  <cp:revision>19</cp:revision>
  <dcterms:created xsi:type="dcterms:W3CDTF">2013-01-27T09:14:16Z</dcterms:created>
  <dcterms:modified xsi:type="dcterms:W3CDTF">2026-03-20T21:22:53Z</dcterms:modified>
  <cp:category/>
</cp:coreProperties>
</file>